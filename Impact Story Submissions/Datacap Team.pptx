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4" d="100"/>
          <a:sy n="64" d="100"/>
        </p:scale>
        <p:origin x="712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DF32-16A1-440D-89A4-E1929E351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B4F91-9A07-4FE8-AF48-0FAABBBB5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A067C-EBF5-45AE-872F-D2BD396F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A26DF-B33D-48C6-8EC6-A354AF3C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458FD-F913-41A4-92DD-910CE13C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0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68E-A6F5-4E5E-A236-53FF6DCE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C019-B387-4249-BA06-B630BC459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1195F-9A53-4444-A1C6-331D87C5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384E-817D-4CE7-9354-78F74996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616D-A31E-4F47-8D7B-9DD0E19B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8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0B768-2A46-459A-956C-A3E0F443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2719-4F55-48EC-8D96-C640CD3F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C977-E79D-4EE1-A764-878590EC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CB36D-BF93-4323-A2F7-D582CD1D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38A06-CBD6-45F8-AA59-CC52E2D9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8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FC63-F19C-4F1F-A580-514F0B59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475D-88E5-4F0A-B0E3-083CDF26E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2A527-A57B-48B4-BF3C-54EEB0D16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7ACF3-067B-492C-BB88-B271117A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2819D-85F4-4279-8C9A-2A0FE87F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D2178-303D-4700-9151-74B517B9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6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FD89-AF8A-479A-9B19-6DAD4861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31AB3-D236-413D-9FC0-569901CB0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1E88C-6F0B-479F-9589-F0BA03830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96313-E94B-41EE-B14B-50DC297CD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DA88B-B647-43DA-BCC5-73835AB08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A2F3F-0527-4920-A3C8-9B5B80EF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BBF4D-7711-4698-A5EA-3F91897D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64BAFF-103B-4910-9B18-D83AF9C8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3FCF-30D1-4687-9A66-F8C27F5D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79F98-8B69-4DA2-8B4C-99F44905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9AC55-37AD-47C8-AF0F-448D720D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FE070-5E03-461B-B210-9534EF07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0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DEF53-8797-42A3-AD0A-E631844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2E738-D4E3-4E75-877D-9C162762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04E18-EB51-465D-B4C6-DB0BA527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D7B5-B649-49BB-B390-087A5F57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DD3C-FF3B-46C0-9D84-DEA4E45E4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DC58D-D604-435E-A841-9CD0984C7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56242-91C6-42BC-AAF3-C6CF375C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03183-6D02-40DF-AB96-783D1A90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3DDA-005A-4BDF-8695-26D09E5D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1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040B-490D-4C17-8B97-19CBA22FE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5D8C4-1C4A-42CB-9F71-E1003B2AB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97F2A-DC9D-4D23-982C-9ED469BF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7ED07-3870-4ADC-99C3-8FDD6DF5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D001F-116E-4613-A3DF-999C971A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0A7FD-9062-4643-B254-56461D0D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6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C117-4764-43F1-B820-26283A11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F3AEE-07D0-4D09-A3BC-500403898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A8C5E-E04E-463C-A375-D55BE1D0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500B-7085-42DD-AC5E-E47FE1E1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32B2D-DD44-415A-989F-3039E058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8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E3AFB-F1DB-447A-9B54-825ED1758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DA1C8-7018-431D-9674-A326E9F0D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F53EE-9983-45BB-A38F-BC48A49B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43DEC-E9CC-47EF-8D5A-2C6E676B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4449A-D4C0-422D-9327-32A456BC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4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D0896-2996-4202-92AC-4115BCCE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2F04B-433F-4AA4-9210-998937410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A3FF-4AEE-410A-8707-437454E5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24C65-7E5D-4D97-A836-B1FEB7B4DA07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D632A-0DF5-47D7-84CC-881773991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5B62-9BF7-47B6-9C83-F70219606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EEE32-638C-459F-8AA8-A1F8856A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06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eoi.es/blogs/imsd/the-importance-of-motivation-in-social-enterprises" TargetMode="External"/><Relationship Id="rId3" Type="http://schemas.openxmlformats.org/officeDocument/2006/relationships/hyperlink" Target="https://pixabay.com/es/photos/amigos-sunrise-joven-feliz-amistad-3614311/" TargetMode="External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oonylabs.org/2016/09/28/observed-building-memories/" TargetMode="Externa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22216627/how-to-create-a-vignette-with-background-gradients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33585771-9092-4549-BEDF-3613E299A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398" r="2" b="10096"/>
          <a:stretch/>
        </p:blipFill>
        <p:spPr>
          <a:xfrm>
            <a:off x="1" y="10"/>
            <a:ext cx="6099048" cy="3428990"/>
          </a:xfrm>
          <a:prstGeom prst="rect">
            <a:avLst/>
          </a:prstGeom>
        </p:spPr>
      </p:pic>
      <p:pic>
        <p:nvPicPr>
          <p:cNvPr id="1026" name="Picture 2" descr="image001">
            <a:extLst>
              <a:ext uri="{FF2B5EF4-FFF2-40B4-BE49-F238E27FC236}">
                <a16:creationId xmlns:a16="http://schemas.microsoft.com/office/drawing/2014/main" id="{C8FA03AD-0C68-45D3-B4D2-8B7FC9736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49"/>
          <a:stretch/>
        </p:blipFill>
        <p:spPr bwMode="auto">
          <a:xfrm>
            <a:off x="6092952" y="10"/>
            <a:ext cx="6099048" cy="342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close up of a box&#10;&#10;Description automatically generated">
            <a:extLst>
              <a:ext uri="{FF2B5EF4-FFF2-40B4-BE49-F238E27FC236}">
                <a16:creationId xmlns:a16="http://schemas.microsoft.com/office/drawing/2014/main" id="{C67BBCCE-60B1-46B0-BCAB-8D5AC071BB2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174" r="2" b="6125"/>
          <a:stretch/>
        </p:blipFill>
        <p:spPr>
          <a:xfrm>
            <a:off x="-30479" y="3429000"/>
            <a:ext cx="6099048" cy="3429000"/>
          </a:xfrm>
          <a:prstGeom prst="rect">
            <a:avLst/>
          </a:prstGeom>
        </p:spPr>
      </p:pic>
      <p:pic>
        <p:nvPicPr>
          <p:cNvPr id="5" name="Picture 4" descr="A close up of a blackboard&#10;&#10;Description automatically generated">
            <a:extLst>
              <a:ext uri="{FF2B5EF4-FFF2-40B4-BE49-F238E27FC236}">
                <a16:creationId xmlns:a16="http://schemas.microsoft.com/office/drawing/2014/main" id="{4B49E562-757F-47CF-8663-88BA03BBFF8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833" t="4764" r="-833" b="6792"/>
          <a:stretch/>
        </p:blipFill>
        <p:spPr>
          <a:xfrm>
            <a:off x="6092952" y="3383280"/>
            <a:ext cx="6180328" cy="35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5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urtain&#10;&#10;Description automatically generated">
            <a:extLst>
              <a:ext uri="{FF2B5EF4-FFF2-40B4-BE49-F238E27FC236}">
                <a16:creationId xmlns:a16="http://schemas.microsoft.com/office/drawing/2014/main" id="{89354A42-CF7D-411B-9D92-025C8BCEC0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80703-1F96-4769-AA63-AD56A8DCB4DA}"/>
              </a:ext>
            </a:extLst>
          </p:cNvPr>
          <p:cNvSpPr/>
          <p:nvPr/>
        </p:nvSpPr>
        <p:spPr>
          <a:xfrm>
            <a:off x="268357" y="176379"/>
            <a:ext cx="11817626" cy="7073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Bradley Hand ITC" panose="03070402050302030203" pitchFamily="66" charset="0"/>
              </a:rPr>
              <a:t>Final Big Team, Small Feel Competition – Impact Story</a:t>
            </a:r>
            <a:endParaRPr lang="en-US" sz="2800" dirty="0">
              <a:solidFill>
                <a:schemeClr val="bg2"/>
              </a:solidFill>
              <a:latin typeface="Bradley Hand ITC" panose="03070402050302030203" pitchFamily="66" charset="0"/>
            </a:endParaRPr>
          </a:p>
          <a:p>
            <a:endParaRPr lang="en-US" sz="2000" dirty="0">
              <a:solidFill>
                <a:schemeClr val="bg2"/>
              </a:solidFill>
              <a:latin typeface="Bradley Hand ITC" panose="03070402050302030203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Every cloud has a silver lining – with this pandemic we were all worried about projects being shut down, but little did we know that we will get a project even in this situation! Taught us how no matter what, things eventually do workout and Being positive in every aspect is what matters (not Covid-19 positive though) </a:t>
            </a:r>
            <a:r>
              <a:rPr lang="en-US" sz="2000" b="1" dirty="0">
                <a:solidFill>
                  <a:schemeClr val="bg2"/>
                </a:solidFill>
                <a:latin typeface="Bradley Hand ITC" panose="03070402050302030203" pitchFamily="66" charset="0"/>
              </a:rPr>
              <a:t>:)</a:t>
            </a:r>
            <a:endParaRPr lang="en-US" sz="2000" dirty="0">
              <a:solidFill>
                <a:schemeClr val="bg2"/>
              </a:solidFill>
              <a:latin typeface="Bradley Hand ITC" panose="03070402050302030203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With the Big Team Small Feel contests, we got an opportunity to bond more as a team and got to know about their hidden talents (trust me, there are many!) and we really hit it off.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Lesson no. 3 – Anything is possible, you just </a:t>
            </a:r>
            <a:r>
              <a:rPr lang="en-US" sz="2000" dirty="0" err="1">
                <a:solidFill>
                  <a:schemeClr val="bg2"/>
                </a:solidFill>
                <a:latin typeface="Bradley Hand ITC" panose="03070402050302030203" pitchFamily="66" charset="0"/>
              </a:rPr>
              <a:t>gotta</a:t>
            </a: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 believe. Going from 30 invoices/day to 100, we remember how doing 100 invoices per day seemed like an impossible task in the first few weeks but hey, here we are! </a:t>
            </a: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  <a:sym typeface="Segoe UI Emoji" panose="020B0502040204020203" pitchFamily="34" charset="0"/>
              </a:rPr>
              <a:t>😉</a:t>
            </a:r>
            <a:endParaRPr lang="en-US" sz="2000" dirty="0">
              <a:solidFill>
                <a:schemeClr val="bg2"/>
              </a:solidFill>
              <a:latin typeface="Bradley Hand ITC" panose="03070402050302030203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Learning a new tool – </a:t>
            </a:r>
            <a:r>
              <a:rPr lang="en-US" sz="2000" dirty="0" err="1">
                <a:solidFill>
                  <a:schemeClr val="bg2"/>
                </a:solidFill>
                <a:latin typeface="Bradley Hand ITC" panose="03070402050302030203" pitchFamily="66" charset="0"/>
              </a:rPr>
              <a:t>DataCap</a:t>
            </a: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 was definitely a </a:t>
            </a:r>
            <a:r>
              <a:rPr lang="en-US" sz="2000" dirty="0" err="1">
                <a:solidFill>
                  <a:schemeClr val="bg2"/>
                </a:solidFill>
                <a:latin typeface="Bradley Hand ITC" panose="03070402050302030203" pitchFamily="66" charset="0"/>
              </a:rPr>
              <a:t>takeway</a:t>
            </a: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 – can proudly add that to our resumes :P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The level of support and help that we received from the team members in these 7 weeks is highly appreciable and we surely collaborated well and are proud to be a part of this amazing team.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This was a first project for many of us and we never imagined interviewing an MD and having a fun conversation with him.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We are taking away so many memorable (and fun) stories and learnings with us which will bring smile on our face every time we will think of </a:t>
            </a:r>
            <a:r>
              <a:rPr lang="en-US" sz="2000" dirty="0" err="1">
                <a:solidFill>
                  <a:schemeClr val="bg2"/>
                </a:solidFill>
                <a:latin typeface="Bradley Hand ITC" panose="03070402050302030203" pitchFamily="66" charset="0"/>
              </a:rPr>
              <a:t>DataCap</a:t>
            </a: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 team and will also help us grow in our journey at Deloitte.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Bradley Hand ITC" panose="03070402050302030203" pitchFamily="66" charset="0"/>
              </a:rPr>
              <a:t>As a lead Nitin was wonderful, he supported all of us individually. He guided us throughout so that we could process more and more invoices with accuracy, and he played a vital role in bringing out the best in us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b="1" dirty="0">
              <a:solidFill>
                <a:schemeClr val="bg2"/>
              </a:solidFill>
              <a:latin typeface="Bradley Hand ITC" panose="03070402050302030203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2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Bradley Hand ITC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Gupta, Nitin</dc:creator>
  <cp:lastModifiedBy>Gupta, Nitin</cp:lastModifiedBy>
  <cp:revision>2</cp:revision>
  <dcterms:created xsi:type="dcterms:W3CDTF">2020-05-15T16:13:13Z</dcterms:created>
  <dcterms:modified xsi:type="dcterms:W3CDTF">2020-05-15T16:27:47Z</dcterms:modified>
</cp:coreProperties>
</file>